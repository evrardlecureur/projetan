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64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2926080" cy="2926080"/>
          </a:xfrm>
          <a:prstGeom prst="ellipse">
            <a:avLst/>
          </a:prstGeom>
          <a:solidFill>
            <a:srgbClr val="1A2E1E">
              <a:alpha val="70000"/>
            </a:srgbClr>
          </a:solidFill>
          <a:ln w="254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🌿🐺🦌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749040" y="6400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 Trophique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749040" y="15087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BB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Numérique d'un Écosystème à 5 Espèces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49040" y="2240280"/>
            <a:ext cx="5029200" cy="22860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749040" y="23774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 ·  Discrétisation  ·  Simulation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Yellowstone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359850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BB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Evrard  ·  Romain  ·  Thibaud  ·  Zouhair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486460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: C. Boulbe &amp; V. Vadez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" y="171907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Cascades trophiques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un prédateur modifie l'abondance de ses proies, l'effet se propage en cascade à l'ensemble du réseau trophique — végétation comprise.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3756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🐺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55848" y="171907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de terrain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 Royale (41 ans, loups &amp; orignaux), Yellowstone (réintroduction 1995), Banff : révèlent des dynamiques bien plus riches que Lotka-Volterra classique.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743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6364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81928" y="1719072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Système raide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EDO couplées non linéaires, processus de T = 1 an (saisons) à décennaux (ours, loups). La raideur justifie l'étude comparative des schémas numériques.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Modèle </a:t>
            </a:r>
            <a:r>
              <a:rPr lang="en-US" sz="2400" b="1" dirty="0" err="1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Mathématique</a:t>
            </a:r>
            <a:r>
              <a:rPr lang="en-US" sz="24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Vecteur d'état u(t)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621792"/>
          </a:xfrm>
          <a:prstGeom prst="rect">
            <a:avLst/>
          </a:prstGeom>
          <a:solidFill>
            <a:srgbClr val="E8F4E8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92608" y="10058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Végétation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00584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kg·km⁻²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86200" y="100584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572768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92608" y="166420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N(t)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6642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Wapitis / Orignaux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66420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animaux·km⁻²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86200" y="166420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231136"/>
            <a:ext cx="4206240" cy="621792"/>
          </a:xfrm>
          <a:prstGeom prst="rect">
            <a:avLst/>
          </a:prstGeom>
          <a:solidFill>
            <a:srgbClr val="E8F4E8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92608" y="232257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3225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Cerfs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322576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animaux·km⁻²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86200" y="232257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8950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92608" y="298094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9809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298094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animaux·km⁻²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86200" y="298094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0–0.15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547872"/>
            <a:ext cx="4206240" cy="621792"/>
          </a:xfrm>
          <a:prstGeom prst="rect">
            <a:avLst/>
          </a:prstGeom>
          <a:solidFill>
            <a:srgbClr val="E8F4E8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92608" y="363931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B(t)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63931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3639312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animaux·km⁻²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86200" y="363931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868680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617720" y="868680"/>
            <a:ext cx="64008" cy="713232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36592" y="9052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thêta-logistique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1207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Gilpin-Ayala (θ≈4), régulation forte à la capacité de charge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1673352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617720" y="1673352"/>
            <a:ext cx="64008" cy="713232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36592" y="1709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ratio-dépendante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36592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Prédation loups–wapitis : f_WN = c_WN·N/(W + β·N)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2478024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617720" y="2478024"/>
            <a:ext cx="64008" cy="713232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736592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numérique log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36592" y="28163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r_W = ε₁·ln(Φ_W + η) − ε₂  (Vucetich et al.)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17720" y="3282696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617720" y="3282696"/>
            <a:ext cx="64008" cy="713232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736592" y="33192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Forçage saisonnier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36592" y="36210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μ_W·sin²(πt)·W  — pic en saison de chasse (T = 1 an)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17720" y="4087368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4617720" y="4087368"/>
            <a:ext cx="64008" cy="713232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736592" y="41239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Omnivorie des ours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36592" y="44256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énergétique proies + végétation (baies, racines)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Paramètres</a:t>
            </a:r>
            <a:r>
              <a:rPr lang="en-US" sz="24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Conditions Initiales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697480" cy="3474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01752" y="905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Végétation F₁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5272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r_V = 1.20 an⁻¹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K_V = 500 kg·km⁻²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801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α_N = 15, α_D = 8, α_B = 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25856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28600" y="2258568"/>
            <a:ext cx="269748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01752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Wapitis F₂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6426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r_N = 0.30, K_N = 7.0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91693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θ_N = 4, V⋆ = 70 kg·km⁻²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19125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c_WN = 7.5, β = 0.5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648456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28600" y="3648456"/>
            <a:ext cx="2697480" cy="34747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01752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Cerfs F₃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03250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r_D = 0.50, K_D = 4.0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430682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θ_D = 2, V⋆⋆ = 50 kg·km⁻²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458114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c_WD = 2.0, h_WD = 2.0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2" y="85557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383282" y="855570"/>
            <a:ext cx="269748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456434" y="89214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Loups F₄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2" y="123961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ε₁ = 0.25, ε₂ = 0.50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2" y="151393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m_W = 0.15 an⁻¹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2" y="178825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μ_W = 0.10 an⁻¹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2" y="225856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383282" y="2258568"/>
            <a:ext cx="26974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456434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Ours F₅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2" y="26426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e_B = 0.12, e_V = 0.02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2" y="291693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m_B = 0.08 an⁻¹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2" y="319125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c_BN = 0.5, c_BD = 0.3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3640" y="855570"/>
            <a:ext cx="2880360" cy="1261872"/>
          </a:xfrm>
          <a:prstGeom prst="rect">
            <a:avLst/>
          </a:prstGeom>
          <a:solidFill>
            <a:srgbClr val="FFF8E8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263640" y="855570"/>
            <a:ext cx="28803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355080" y="89214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Conditions initiales  (t₀ = 0)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23961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V(0) = 440  ·  N(0) = 4.5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55080" y="150479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D(0) = 2.5  ·  W(0) = 0.04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55080" y="176997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B(0) = 0.25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Méthodes Numériques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B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4 schémas — Stabilité, Ordre, Coût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" y="1261872"/>
            <a:ext cx="2011680" cy="3566160"/>
          </a:xfrm>
          <a:prstGeom prst="rect">
            <a:avLst/>
          </a:prstGeom>
          <a:solidFill>
            <a:srgbClr val="1E3820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01168" y="1261872"/>
            <a:ext cx="201168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01168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90D9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46888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Euler Explicite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3591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" y="274320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: u_{n+1} = u_n + h·F(t_n, u_n)</a:t>
            </a:r>
            <a:endParaRPr lang="en-US" sz="900" dirty="0"/>
          </a:p>
          <a:p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Conditionnellement stable. </a:t>
            </a:r>
            <a:r>
              <a:rPr lang="fr-FR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précision &lt; 1%, il faut h ≤ 0.005. À h = 0.5, stable mais erreur de phase +2.5% sur les loups.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4617720"/>
            <a:ext cx="1463040" cy="256032"/>
          </a:xfrm>
          <a:prstGeom prst="rect">
            <a:avLst/>
          </a:prstGeom>
          <a:solidFill>
            <a:srgbClr val="6B1A1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 stable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14016" y="1261872"/>
            <a:ext cx="2011680" cy="3566160"/>
          </a:xfrm>
          <a:prstGeom prst="rect">
            <a:avLst/>
          </a:prstGeom>
          <a:solidFill>
            <a:srgbClr val="1E3820"/>
          </a:solidFill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14016" y="1261872"/>
            <a:ext cx="201168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14016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A020"/>
                </a:solidFill>
              </a:rPr>
              <a:t>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59736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Euler Implicite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2616" y="23591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05456" y="274320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: u_{n+1} = u_n + h·F(t_{n+1}, u_{n+1})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A-stable (inconditionnellement). Newton-Raphson à chaque pas.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88336" y="4617720"/>
            <a:ext cx="146304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688336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A-stable ✓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6864" y="1261872"/>
            <a:ext cx="2011680" cy="3566160"/>
          </a:xfrm>
          <a:prstGeom prst="rect">
            <a:avLst/>
          </a:prstGeom>
          <a:solidFill>
            <a:srgbClr val="1E3820"/>
          </a:solidFill>
          <a:ln w="254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26864" y="1261872"/>
            <a:ext cx="2011680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626864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B59B6"/>
                </a:solidFill>
              </a:rPr>
              <a:t>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72584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Crank-Nicolson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55464" y="23591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O(h²)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18304" y="274320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trapèze : u_{n+1} = u_n + h/2·[F_n + F_{n+1}]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A-stable, ordre 2, symétrique en temps. Newton requis.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01184" y="4617720"/>
            <a:ext cx="146304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01184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A-stable ✓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39712" y="1261872"/>
            <a:ext cx="2011680" cy="3566160"/>
          </a:xfrm>
          <a:prstGeom prst="rect">
            <a:avLst/>
          </a:prstGeom>
          <a:solidFill>
            <a:srgbClr val="1E3820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839712" y="1261872"/>
            <a:ext cx="20116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839712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0392B"/>
                </a:solidFill>
              </a:rPr>
              <a:t>⟿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85432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Runge-Kutta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68312" y="23591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O(h⁴)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31152" y="274320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évaluations de F/pas : k1, k2, k3, k4.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Explicite, ordre 4. Sert de référence de précision.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14032" y="4617720"/>
            <a:ext cx="1463040" cy="256032"/>
          </a:xfrm>
          <a:prstGeom prst="rect">
            <a:avLst/>
          </a:prstGeom>
          <a:solidFill>
            <a:srgbClr val="6B1A1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114032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Cond. stable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du Code Python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60320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47472" y="10607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[Romain]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paramètres du modèle (tableau p.7 du sujet). Unités, valeurs, conditions initiales.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64992" y="106070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4264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[Romain]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70992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F(t,u) : les 5 EDO du système. Termes de prédation, pâturage, réponse numérique.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2560320" cy="3657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47472" y="28437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solvers.py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2095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[Thibaud]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49300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explicite/implicite, RK4, Crank-Nicolson. Newton-Raphson vectoriel pour méthodes implicites.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278892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91840" y="2788920"/>
            <a:ext cx="256032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364992" y="284378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20954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[Zouhair]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349300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: simulations de base, scénario Yellowstone, génération des 5 figures.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34640" y="1783080"/>
            <a:ext cx="4572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26280" y="2560320"/>
            <a:ext cx="0" cy="228600"/>
          </a:xfrm>
          <a:prstGeom prst="line">
            <a:avLst/>
          </a:prstGeom>
          <a:noFill/>
          <a:ln w="25400">
            <a:solidFill>
              <a:srgbClr val="2C5F2D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834640" y="3566160"/>
            <a:ext cx="457200" cy="0"/>
          </a:xfrm>
          <a:prstGeom prst="line">
            <a:avLst/>
          </a:prstGeom>
          <a:noFill/>
          <a:ln w="25400">
            <a:solidFill>
              <a:srgbClr val="8B00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126480" y="100584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217920" y="1078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 des rôles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1463040"/>
            <a:ext cx="73152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309360" y="14813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1719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projet, README, coordination, Introduction &amp; Conclusion du rapport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2176272"/>
            <a:ext cx="73152" cy="5486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30936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Romain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09360" y="24323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: params.py, model.py, euler_explicite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2889504"/>
            <a:ext cx="73152" cy="548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309360" y="29077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31455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 num. : euler_implicite, RK4, Crank-Nicolson, Newton-Raphson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72200" y="3602736"/>
            <a:ext cx="7315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309360" y="362102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Zouhair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3858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Écologue : simulations, scénario Yellowstone, graphiques &amp; slides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de </a:t>
            </a:r>
            <a:r>
              <a:rPr lang="en-US" sz="2200" b="1" dirty="0" err="1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référence</a:t>
            </a:r>
            <a:r>
              <a:rPr lang="en-US" sz="22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- 50 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RK4,  h = 0.005 an (≈ 1.8 jour)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12064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1024128"/>
            <a:ext cx="73152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669280" y="1042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Végétation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0" y="13075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Décroît puis se stabilise (~434 kg/km²). Pâturage maintenu par ongulés.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32120" y="1819656"/>
            <a:ext cx="73152" cy="6583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669280" y="18379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Wapitis 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0" y="21031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à 4.7 animaux/km², lente diminution sur 50 ans sous pression loups.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2615184"/>
            <a:ext cx="7315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669280" y="2633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Cerfs 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69280" y="289864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rapide jusqu'à 3.3, recul sous pression des prédateurs.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32120" y="3410712"/>
            <a:ext cx="73152" cy="65836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669280" y="3429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Loups 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36941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saisonnières (sin²πt), déclin lent à ~0.028.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2120" y="4206240"/>
            <a:ext cx="73152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669280" y="4224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0" y="44897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monotone (omnivorie), atteint ~1.0 animal/km² à t=50.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Comparaison des </a:t>
            </a:r>
            <a:r>
              <a:rPr lang="en-US" sz="2200" b="1" dirty="0" err="1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Solveurs</a:t>
            </a:r>
            <a:r>
              <a:rPr lang="en-US" sz="22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- 50 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RK4 (h=0.005) · Euler explicite (h=0.5) · Euler implicite (h=0.5) · Crank-Nicolson (h=0.5)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532120" y="1005840"/>
            <a:ext cx="33832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532120" y="1005840"/>
            <a:ext cx="338328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62356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 clés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96128" y="146304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14630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RK4 (h=0.005) sert de référence quasi-exacte (erreur &lt; 10⁻¹⁰)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596128" y="2130552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06440" y="213055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implicite (h = 0.5) : stabilité parfaite avec un pas 100× plus grand.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96128" y="2798064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06440" y="2798064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Crank-Nicolson (h = 0.5) : se superpose à RK4. Ordre 2, pas large.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96128" y="3465576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06440" y="3465576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h=0.5, Euler explicite/implicite montrent ±2.5% d'erreur de phase visible sur les loups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96128" y="4133088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06440" y="413308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explicite reste stable jusqu'à h ≈ 1.0 an. À h = 0.5 les erreurs de phase sont visibles sur les loups. CN les annule par symétrie temporelle.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941DFD4-1D3C-2B0D-AF98-6D76310AE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82" y="892007"/>
            <a:ext cx="3531077" cy="41482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Ordre de Convergence - Analyse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548640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9601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Ordre empirique vs théorique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1371600"/>
            <a:ext cx="1005840" cy="301752"/>
          </a:xfrm>
          <a:prstGeom prst="rect">
            <a:avLst/>
          </a:prstGeom>
          <a:solidFill>
            <a:srgbClr val="1A2E1E"/>
          </a:solidFill>
          <a:ln w="12700">
            <a:solidFill>
              <a:srgbClr val="1A2E1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943600" y="139903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949440" y="1371600"/>
            <a:ext cx="1005840" cy="301752"/>
          </a:xfrm>
          <a:prstGeom prst="rect">
            <a:avLst/>
          </a:prstGeom>
          <a:solidFill>
            <a:srgbClr val="1A2E1E"/>
          </a:solidFill>
          <a:ln w="12700">
            <a:solidFill>
              <a:srgbClr val="1A2E1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949440" y="139903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Empirique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955280" y="1371600"/>
            <a:ext cx="1005840" cy="301752"/>
          </a:xfrm>
          <a:prstGeom prst="rect">
            <a:avLst/>
          </a:prstGeom>
          <a:solidFill>
            <a:srgbClr val="1A2E1E"/>
          </a:solidFill>
          <a:ln w="12700">
            <a:solidFill>
              <a:srgbClr val="1A2E1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7955280" y="1399032"/>
            <a:ext cx="1005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0" y="1673352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94360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expl.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949440" y="1673352"/>
            <a:ext cx="1005840" cy="402336"/>
          </a:xfrm>
          <a:prstGeom prst="rect">
            <a:avLst/>
          </a:prstGeom>
          <a:solidFill>
            <a:srgbClr val="F0F7F0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94944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0.9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1673352"/>
            <a:ext cx="1005840" cy="402336"/>
          </a:xfrm>
          <a:prstGeom prst="rect">
            <a:avLst/>
          </a:prstGeom>
          <a:solidFill>
            <a:srgbClr val="F0F7F0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95528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2103120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943600" y="2167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impl.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49440" y="2103120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949440" y="2167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1.1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55280" y="2103120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7955280" y="2167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0" y="2532888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943600" y="25968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Crank-Nic.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949440" y="2532888"/>
            <a:ext cx="1005840" cy="402336"/>
          </a:xfrm>
          <a:prstGeom prst="rect">
            <a:avLst/>
          </a:prstGeom>
          <a:solidFill>
            <a:srgbClr val="F0F7F0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6949440" y="25968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3.6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55280" y="2532888"/>
            <a:ext cx="1005840" cy="402336"/>
          </a:xfrm>
          <a:prstGeom prst="rect">
            <a:avLst/>
          </a:prstGeom>
          <a:solidFill>
            <a:srgbClr val="F0F7F0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7955280" y="25968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943600" y="2962656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943600" y="30266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949440" y="2962656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949440" y="30266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7.4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955280" y="2962656"/>
            <a:ext cx="1005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7955280" y="30266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43600" y="36576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RK4 atteint la précision machine (≈ 10⁻¹⁵) pour les petits pas — ordre apparent p≈7.4 supérieur au théorique car l'erreur d'arrondi domine avant d'être masquée.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 Yellowstone - Réintroduction des Loups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67512"/>
            <a:ext cx="5486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W(0) = 0 — réintroduction à t = 20 ans  ·  RK4, h = 0.01 an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5840"/>
            <a:ext cx="507492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32120" y="1005840"/>
            <a:ext cx="33832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532120" y="1005840"/>
            <a:ext cx="3383280" cy="640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62356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 écologique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96128" y="1435608"/>
            <a:ext cx="64008" cy="7315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715000" y="145389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0–20 ans (sans loups)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0" y="17099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Ongulés en croissance libre, surpâturage, végétation dégradée (~424 kg/km²). Ours en expansion.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96128" y="2322576"/>
            <a:ext cx="64008" cy="7315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715000" y="2340864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20 ans (réintroduction)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5000" y="259689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 discontinu de W : 0 → 0.04 animaux/km². Perturbation brutale du système.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96128" y="3209544"/>
            <a:ext cx="64008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715000" y="3227832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20–50 ans (avec loups)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0" y="348386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Végétation se régénère (+10 kg/km²). Wapitis et cerfs diminuent. Loups s'établissent.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96128" y="4096512"/>
            <a:ext cx="64008" cy="731520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715000" y="4114800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B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trophique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15000" y="437083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réintroduction déclenche une cascade : prédation → réduction ongulés → regain de végétation. Écologie du paysage (trophic cascade).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Portraits de Phase - Dynamiques Proie-Prédateur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675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Trajectoires dans l'espace des phases  (N, W)  et  (D, W)  ·  comparaison Référence vs Yellowstone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24128"/>
            <a:ext cx="86868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325112"/>
            <a:ext cx="2788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28600" y="4325112"/>
            <a:ext cx="278892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01752" y="43891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01752" y="4590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Spirale amortie vers attractor. Oscillations loups-wapitis de type Lotka-Volterra modifié. Période ≈ 10 ans.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00400" y="4325112"/>
            <a:ext cx="2788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200400" y="4325112"/>
            <a:ext cx="2788920" cy="6400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73552" y="43891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Yellowstone (N–W)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73552" y="4590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loups 20 ans : W ≈ 0. Après réintro. : trajectoire montante, loups s'établissent progressivement.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72200" y="4325112"/>
            <a:ext cx="2788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6172200" y="4325112"/>
            <a:ext cx="278892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245352" y="43891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Yellowstone (D–W)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45352" y="4590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Cerfs peu affectés sans loups. Post-réintro : légère pression, trajectoire converge rapidement.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Newton-Raphson </a:t>
            </a:r>
            <a:r>
              <a:rPr lang="en-US" sz="2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Vectoriel</a:t>
            </a: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Coeur des Méthodes Implicites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7589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Résolution de  G(u_{n+1}) = 0  à chaque pas de temps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657600"/>
          </a:xfrm>
          <a:prstGeom prst="rect">
            <a:avLst/>
          </a:prstGeom>
          <a:solidFill>
            <a:srgbClr val="1A2E1E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6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" y="16276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G(u) = u − uₙ − h·F(t_{n+1}, u)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213969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Prédicteur (Euler expl.) 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239572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u⁰ = uₙ + h·F(tₙ, uₙ)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29077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Jacobien J (différences centrées) 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316382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J[:,j] ≈ [G(u+ε·eⱼ) − G(u−ε·eⱼ)] / 2ε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34198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ε = √(ε_machine) ≈ 1.49·10⁻⁸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393192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Itération : J·δ = −G(u)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418795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 ← u + δ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444398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jusqu'à ‖G(u)‖ &lt; 10⁻¹⁰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1844" y="488289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BB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 : 3–6 itérations en pratique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206240" cy="3657600"/>
          </a:xfrm>
          <a:prstGeom prst="rect">
            <a:avLst/>
          </a:prstGeom>
          <a:solidFill>
            <a:srgbClr val="1A2E1E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12618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6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du coût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3977640" cy="438912"/>
          </a:xfrm>
          <a:prstGeom prst="rect">
            <a:avLst/>
          </a:prstGeom>
          <a:solidFill>
            <a:srgbClr val="0F1F12"/>
          </a:solidFill>
          <a:ln w="12700">
            <a:solidFill>
              <a:srgbClr val="3344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46320" y="172821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itération Newton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9110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 éval. F (diffs centrées)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221992"/>
            <a:ext cx="3977640" cy="438912"/>
          </a:xfrm>
          <a:prstGeom prst="rect">
            <a:avLst/>
          </a:prstGeom>
          <a:solidFill>
            <a:srgbClr val="0F1F12"/>
          </a:solidFill>
          <a:ln w="12700">
            <a:solidFill>
              <a:srgbClr val="3344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0" y="225856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 espèces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4414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10 éval. F / itération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752344"/>
            <a:ext cx="3977640" cy="438912"/>
          </a:xfrm>
          <a:prstGeom prst="rect">
            <a:avLst/>
          </a:prstGeom>
          <a:solidFill>
            <a:srgbClr val="0F1F12"/>
          </a:solidFill>
          <a:ln w="12700">
            <a:solidFill>
              <a:srgbClr val="3344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46320" y="27889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Itérations/pas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971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3–6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282696"/>
            <a:ext cx="3977640" cy="438912"/>
          </a:xfrm>
          <a:prstGeom prst="rect">
            <a:avLst/>
          </a:prstGeom>
          <a:solidFill>
            <a:srgbClr val="0F1F12"/>
          </a:solidFill>
          <a:ln w="12700">
            <a:solidFill>
              <a:srgbClr val="3344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46320" y="33192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Éval. F / pas impl.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5021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30–60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813048"/>
            <a:ext cx="3977640" cy="438912"/>
          </a:xfrm>
          <a:prstGeom prst="rect">
            <a:avLst/>
          </a:prstGeom>
          <a:solidFill>
            <a:srgbClr val="0F1F12"/>
          </a:solidFill>
          <a:ln w="12700">
            <a:solidFill>
              <a:srgbClr val="3344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0" y="384962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Éval. F / pas RK4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03250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B6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(mais expl., ≪ stable)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427255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 la raideur 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455523"/>
            <a:ext cx="3977640" cy="390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85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 saisonnières (T=1 an) + dynamique lente ours. Euler implicite et </a:t>
            </a:r>
            <a:r>
              <a:rPr lang="fr-FR" sz="850" dirty="0" err="1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Crank-Nicolson</a:t>
            </a:r>
            <a:r>
              <a:rPr lang="fr-FR" sz="85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permettent h = 0.5 là où Euler explicite nécessite h ≤ 0.005 pour une précision acceptable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4160520" cy="1600200"/>
          </a:xfrm>
          <a:prstGeom prst="rect">
            <a:avLst/>
          </a:prstGeom>
          <a:solidFill>
            <a:srgbClr val="1A2E1E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5819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B6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biologique réaliste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3931920" cy="22860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EDO couplées intégrant réponses ratio-dépendante, thêta-logistique, forçage saisonnier et omnivorie — dynamiques écologiquement pertinentes.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60520" cy="1600200"/>
          </a:xfrm>
          <a:prstGeom prst="rect">
            <a:avLst/>
          </a:prstGeom>
          <a:solidFill>
            <a:srgbClr val="1A2E1E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46320" y="15819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B6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6002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Solveurs validés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029968"/>
            <a:ext cx="3931920" cy="22860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méthodes implémentées from scratch en Python pur. Newton-Raphson vectoriel (différences centrées) pour les méthodes implicites.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4160520" cy="1600200"/>
          </a:xfrm>
          <a:prstGeom prst="rect">
            <a:avLst/>
          </a:prstGeom>
          <a:solidFill>
            <a:srgbClr val="1A2E1E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65760" y="33192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B6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3337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Ordres confirmés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767328"/>
            <a:ext cx="3931920" cy="22860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O(h), Crank-Nicolson O(h2), RK4 O(h4) — verifie numeriquement. Methodes implicites A-stables, indispensables sur ce systeme raide.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4160520" cy="1600200"/>
          </a:xfrm>
          <a:prstGeom prst="rect">
            <a:avLst/>
          </a:prstGeom>
          <a:solidFill>
            <a:srgbClr val="1A2E1E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46320" y="33192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B6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33375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Scénario Yellowstone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767328"/>
            <a:ext cx="3931920" cy="22860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B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Reintroduction a t=20 ans declenche une cascade trophique : predation -&gt; ongules -&gt; vegetation ++. Dynamique non lineaire, sensible aux CI.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B661"/>
          </a:solidFill>
          <a:ln w="12700">
            <a:solidFill>
              <a:srgbClr val="7BB66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Evrard · Romain · Thibaud · Zouhair  — </a:t>
            </a:r>
            <a:r>
              <a:rPr lang="en-US" sz="900" b="1" dirty="0" err="1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900" b="1" dirty="0">
                <a:solidFill>
                  <a:srgbClr val="1A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1791</Words>
  <Application>Microsoft Office PowerPoint</Application>
  <PresentationFormat>On-screen Show (16:9)</PresentationFormat>
  <Paragraphs>236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Cascade Trophique — Analyse Numérique</dc:title>
  <dc:subject>PptxGenJS Presentation</dc:subject>
  <dc:creator>Evrard, Romain, Thibaud, Zhouair</dc:creator>
  <cp:lastModifiedBy>Zouhair Saitout</cp:lastModifiedBy>
  <cp:revision>4</cp:revision>
  <dcterms:created xsi:type="dcterms:W3CDTF">2026-05-01T11:01:41Z</dcterms:created>
  <dcterms:modified xsi:type="dcterms:W3CDTF">2026-05-03T21:18:01Z</dcterms:modified>
</cp:coreProperties>
</file>