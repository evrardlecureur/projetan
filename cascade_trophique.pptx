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47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06414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274320" y="274320"/>
            <a:ext cx="2926080" cy="2926080"/>
          </a:xfrm>
          <a:prstGeom prst="ellipse">
            <a:avLst/>
          </a:prstGeom>
          <a:solidFill>
            <a:srgbClr val="1A2E1E">
              <a:alpha val="70000"/>
            </a:srgbClr>
          </a:solidFill>
          <a:ln w="254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74320" y="82296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000000"/>
                </a:solidFill>
              </a:rPr>
              <a:t>🌿🐺🦌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3749040" y="640080"/>
            <a:ext cx="5212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Cascade Trophique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749040" y="150876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7BB6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Numérique d'un Écosystème à 5 Espèces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749040" y="2240280"/>
            <a:ext cx="5029200" cy="22860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749040" y="237744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 ·  Discrétisation  ·  Simulation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Scénario Yellowstone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749040" y="3598506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BB6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Evrard  ·  Romain  ·  Thibaud  ·  Zouhair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74320" y="486460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Enseignants : C. Boulbe &amp; V. Vadez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Contexte &amp; Motivation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7432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2743200" cy="7315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11480" y="1051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🌲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29768" y="1719072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Cascades trophiques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4688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un prédateur modifie l'abondance de ses proies, l'effet se propage en cascade à l'ensemble du réseau trophique — végétation comprise.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7432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246120" y="960120"/>
            <a:ext cx="2743200" cy="7315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337560" y="1051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🐺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355848" y="1719072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Données de terrain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0" y="2286000"/>
            <a:ext cx="24688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Isle Royale (41 ans, loups &amp; orignaux), Yellowstone (réintroduction 1995), Banff : révèlent des dynamiques bien plus riches que Lotka-Volterra classique.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72200" y="960120"/>
            <a:ext cx="27432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6172200" y="960120"/>
            <a:ext cx="2743200" cy="7315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6263640" y="10515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🔢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81928" y="1719072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Système raide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2286000"/>
            <a:ext cx="24688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EDO couplées non linéaires, processus de T = 1 an (saisons) à décennaux (ours, loups). La raideur justifie l'étude comparative des schémas numériques.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Modèle </a:t>
            </a:r>
            <a:r>
              <a:rPr lang="en-US" sz="2400" b="1" dirty="0" err="1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Mathématique</a:t>
            </a:r>
            <a:r>
              <a:rPr lang="en-US" sz="24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Vecteur d'état u(t)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4206240" cy="621792"/>
          </a:xfrm>
          <a:prstGeom prst="rect">
            <a:avLst/>
          </a:prstGeom>
          <a:solidFill>
            <a:srgbClr val="E8F4E8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292608" y="1005840"/>
            <a:ext cx="640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V(t)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1005840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Végétation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26080" y="1005840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kg·km⁻²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886200" y="1005840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0–500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8600" y="1572768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92608" y="1664208"/>
            <a:ext cx="640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6B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N(t)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664208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Wapitis / Orignaux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926080" y="1664208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animaux·km⁻²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86200" y="1664208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0–10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28600" y="2231136"/>
            <a:ext cx="4206240" cy="621792"/>
          </a:xfrm>
          <a:prstGeom prst="rect">
            <a:avLst/>
          </a:prstGeom>
          <a:solidFill>
            <a:srgbClr val="E8F4E8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92608" y="2322576"/>
            <a:ext cx="640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D(t)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2322576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Cerfs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26080" y="2322576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animaux·km⁻²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886200" y="2322576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0–5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28600" y="2889504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292608" y="2980944"/>
            <a:ext cx="640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W(t)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2980944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Loups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926080" y="2980944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animaux·km⁻²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886200" y="2980944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0–0.15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" y="3547872"/>
            <a:ext cx="4206240" cy="621792"/>
          </a:xfrm>
          <a:prstGeom prst="rect">
            <a:avLst/>
          </a:prstGeom>
          <a:solidFill>
            <a:srgbClr val="E8F4E8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292608" y="3639312"/>
            <a:ext cx="6400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B(t)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" y="3639312"/>
            <a:ext cx="1920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926080" y="3639312"/>
            <a:ext cx="914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animaux·km⁻²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86200" y="3639312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17720" y="868680"/>
            <a:ext cx="4297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4617720" y="868680"/>
            <a:ext cx="64008" cy="713232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4736592" y="90525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Croissance thêta-logistique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736592" y="120700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Gilpin-Ayala (θ≈4), régulation forte à la capacité de charge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17720" y="1673352"/>
            <a:ext cx="4297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4617720" y="1673352"/>
            <a:ext cx="64008" cy="713232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4736592" y="170992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ratio-dépendante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736592" y="20116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Prédation loups–wapitis : f_WN = c_WN·N/(W + β·N)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17720" y="2478024"/>
            <a:ext cx="4297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8" name="Shape 36"/>
          <p:cNvSpPr/>
          <p:nvPr/>
        </p:nvSpPr>
        <p:spPr>
          <a:xfrm>
            <a:off x="4617720" y="2478024"/>
            <a:ext cx="64008" cy="713232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4736592" y="2514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numérique log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736592" y="2816352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r_W = ε₁·ln(Φ_W + η) − ε₂  (Vucetich et al.)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617720" y="3282696"/>
            <a:ext cx="4297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2" name="Shape 40"/>
          <p:cNvSpPr/>
          <p:nvPr/>
        </p:nvSpPr>
        <p:spPr>
          <a:xfrm>
            <a:off x="4617720" y="3282696"/>
            <a:ext cx="64008" cy="713232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3" name="Text 41"/>
          <p:cNvSpPr/>
          <p:nvPr/>
        </p:nvSpPr>
        <p:spPr>
          <a:xfrm>
            <a:off x="4736592" y="331927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Forçage saisonnier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736592" y="362102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μ_W·sin²(πt)·W  — pic en saison de chasse (T = 1 an)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17720" y="4087368"/>
            <a:ext cx="42976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6" name="Shape 44"/>
          <p:cNvSpPr/>
          <p:nvPr/>
        </p:nvSpPr>
        <p:spPr>
          <a:xfrm>
            <a:off x="4617720" y="4087368"/>
            <a:ext cx="64008" cy="713232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5"/>
          <p:cNvSpPr/>
          <p:nvPr/>
        </p:nvSpPr>
        <p:spPr>
          <a:xfrm>
            <a:off x="4736592" y="412394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Omnivorie des ours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736592" y="442569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énergétique proies + végétation (baies, racines)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Paramètres</a:t>
            </a:r>
            <a:r>
              <a:rPr lang="en-US" sz="24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Conditions Initiales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269748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28600" y="868680"/>
            <a:ext cx="2697480" cy="347472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01752" y="90525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Végétation F₁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252728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r_V = 1.20 an⁻¹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20040" y="1527048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K_V = 500 kg·km⁻²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20040" y="1801368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α_N = 15, α_D = 8, α_B = 3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28600" y="2258568"/>
            <a:ext cx="269748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228600" y="2258568"/>
            <a:ext cx="2697480" cy="347472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01752" y="22951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Wapitis F₂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0040" y="2642616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r_N = 0.30, K_N = 7.0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" y="2916936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θ_N = 4, V⋆ = 70 kg·km⁻²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20040" y="3191256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c_WN = 7.5, β = 0.5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3648456"/>
            <a:ext cx="269748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228600" y="3648456"/>
            <a:ext cx="2697480" cy="347472"/>
          </a:xfrm>
          <a:prstGeom prst="rect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01752" y="368503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Cerfs F₃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0040" y="403250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r_D = 0.50, K_D = 4.0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" y="430682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θ_D = 2, V⋆⋆ = 50 kg·km⁻²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4581144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c_WD = 2.0, h_WD = 2.0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83282" y="855570"/>
            <a:ext cx="269748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3383282" y="855570"/>
            <a:ext cx="2697480" cy="34747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3456434" y="89214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Loups F₄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2" y="1239618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ε₁ = 0.25, ε₂ = 0.50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474722" y="1513938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m_W = 0.15 an⁻¹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474722" y="1788258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μ_W = 0.10 an⁻¹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383282" y="2258568"/>
            <a:ext cx="269748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3383282" y="2258568"/>
            <a:ext cx="2697480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3456434" y="22951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Ours F₅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474722" y="2642616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e_B = 0.12, e_V = 0.02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474722" y="2916936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m_B = 0.08 an⁻¹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474722" y="3191256"/>
            <a:ext cx="25603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c_BN = 0.5, c_BD = 0.3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63640" y="855570"/>
            <a:ext cx="2880360" cy="1261872"/>
          </a:xfrm>
          <a:prstGeom prst="rect">
            <a:avLst/>
          </a:prstGeom>
          <a:solidFill>
            <a:srgbClr val="FFF8E8"/>
          </a:solidFill>
          <a:ln w="12700">
            <a:solidFill>
              <a:srgbClr val="D97706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33"/>
          <p:cNvSpPr/>
          <p:nvPr/>
        </p:nvSpPr>
        <p:spPr>
          <a:xfrm>
            <a:off x="6263640" y="855570"/>
            <a:ext cx="2880360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355080" y="89214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Conditions initiales  (t₀ = 0)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55080" y="123961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V(0) = 440  ·  N(0) = 4.5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355080" y="150479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D(0) = 2.5  ·  W(0) = 0.04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55080" y="176997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B(0) = 0.25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Méthodes Numériques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589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BB6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 4 schémas — Stabilité, Ordre, Coût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01168" y="1261872"/>
            <a:ext cx="2011680" cy="3566160"/>
          </a:xfrm>
          <a:prstGeom prst="rect">
            <a:avLst/>
          </a:prstGeom>
          <a:solidFill>
            <a:srgbClr val="1E3820"/>
          </a:solidFill>
          <a:ln w="254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01168" y="1261872"/>
            <a:ext cx="2011680" cy="7315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01168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4A90D9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46888" y="18745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Euler Explicite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" y="235915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O(h)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2608" y="2743200"/>
            <a:ext cx="1828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AB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: u_{n+1} = u_n + h·F(t_n, u_n)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B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Conditionnellement stable. Pas h ≤ 0.01 requis. 1 éval. F/pas.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" y="4617720"/>
            <a:ext cx="1463040" cy="256032"/>
          </a:xfrm>
          <a:prstGeom prst="rect">
            <a:avLst/>
          </a:prstGeom>
          <a:solidFill>
            <a:srgbClr val="6B1A1A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75488" y="462686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Cond. stable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414016" y="1261872"/>
            <a:ext cx="2011680" cy="3566160"/>
          </a:xfrm>
          <a:prstGeom prst="rect">
            <a:avLst/>
          </a:prstGeom>
          <a:solidFill>
            <a:srgbClr val="1E3820"/>
          </a:solidFill>
          <a:ln w="254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414016" y="1261872"/>
            <a:ext cx="2011680" cy="73152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414016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A020"/>
                </a:solidFill>
              </a:rPr>
              <a:t>⟵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59736" y="18745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Euler Implicite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42616" y="235915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O(h)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05456" y="2743200"/>
            <a:ext cx="1828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AB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: u_{n+1} = u_n + h·F(t_{n+1}, u_{n+1})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B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A-stable (inconditionnellement). Newton-Raphson à chaque pas.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688336" y="4617720"/>
            <a:ext cx="146304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2688336" y="462686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A-stable ✓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26864" y="1261872"/>
            <a:ext cx="2011680" cy="3566160"/>
          </a:xfrm>
          <a:prstGeom prst="rect">
            <a:avLst/>
          </a:prstGeom>
          <a:solidFill>
            <a:srgbClr val="1E3820"/>
          </a:solidFill>
          <a:ln w="254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4626864" y="1261872"/>
            <a:ext cx="2011680" cy="73152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626864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B59B6"/>
                </a:solidFill>
              </a:rPr>
              <a:t>↔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672584" y="18745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Crank-Nicolson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55464" y="235915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O(h²)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18304" y="2743200"/>
            <a:ext cx="1828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AB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trapèze : u_{n+1} = u_n + h/2·[F_n + F_{n+1}]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B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A-stable, ordre 2, symétrique en temps. Newton requis.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901184" y="4617720"/>
            <a:ext cx="1463040" cy="256032"/>
          </a:xfrm>
          <a:prstGeom prst="rect">
            <a:avLst/>
          </a:prstGeom>
          <a:solidFill>
            <a:srgbClr val="1A6B3C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901184" y="462686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A-stable ✓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839712" y="1261872"/>
            <a:ext cx="2011680" cy="3566160"/>
          </a:xfrm>
          <a:prstGeom prst="rect">
            <a:avLst/>
          </a:prstGeom>
          <a:solidFill>
            <a:srgbClr val="1E3820"/>
          </a:solidFill>
          <a:ln w="254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7"/>
          <p:cNvSpPr/>
          <p:nvPr/>
        </p:nvSpPr>
        <p:spPr>
          <a:xfrm>
            <a:off x="6839712" y="1261872"/>
            <a:ext cx="2011680" cy="7315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6839712" y="13716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0392B"/>
                </a:solidFill>
              </a:rPr>
              <a:t>⟿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885432" y="187452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Runge-Kutta 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68312" y="235915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O(h⁴)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931152" y="2743200"/>
            <a:ext cx="18288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AB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évaluations de F/pas : k1, k2, k3, k4.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ABB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Explicite, ordre 4. Sert de référence de précision.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114032" y="4617720"/>
            <a:ext cx="1463040" cy="256032"/>
          </a:xfrm>
          <a:prstGeom prst="rect">
            <a:avLst/>
          </a:prstGeom>
          <a:solidFill>
            <a:srgbClr val="6B1A1A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7114032" y="462686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Cond. stable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du Code Python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56032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6B3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560320" cy="36576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347472" y="106070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params.py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42646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[Romain]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709928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paramètres du modèle (tableau p.7 du sujet). Unités, valeurs, conditions initiales.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291840" y="1005840"/>
            <a:ext cx="256032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2C5F2D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291840" y="1005840"/>
            <a:ext cx="2560320" cy="36576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364992" y="106070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model.py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0" y="142646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[Romain]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709928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F(t,u) : les 5 EDO du système. Termes de prédation, pâturage, réponse numérique.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788920"/>
            <a:ext cx="256032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8B0000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274320" y="2788920"/>
            <a:ext cx="2560320" cy="36576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347472" y="284378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solvers.py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20954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[Thibaud]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3493008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explicite/implicite, RK4, Crank-Nicolson. Newton-Raphson vectoriel pour méthodes implicites.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91840" y="2788920"/>
            <a:ext cx="256032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3291840" y="2788920"/>
            <a:ext cx="2560320" cy="365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3364992" y="284378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83280" y="3209544"/>
            <a:ext cx="2423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[Zouhair]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83280" y="3493008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d'entrée : simulations de base, scénario Yellowstone, génération des 5 figures.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834640" y="1783080"/>
            <a:ext cx="457200" cy="0"/>
          </a:xfrm>
          <a:prstGeom prst="line">
            <a:avLst/>
          </a:prstGeom>
          <a:noFill/>
          <a:ln w="25400">
            <a:solidFill>
              <a:srgbClr val="2C5F2D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4526280" y="2560320"/>
            <a:ext cx="0" cy="228600"/>
          </a:xfrm>
          <a:prstGeom prst="line">
            <a:avLst/>
          </a:prstGeom>
          <a:noFill/>
          <a:ln w="25400">
            <a:solidFill>
              <a:srgbClr val="2C5F2D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2834640" y="3566160"/>
            <a:ext cx="457200" cy="0"/>
          </a:xfrm>
          <a:prstGeom prst="line">
            <a:avLst/>
          </a:prstGeom>
          <a:noFill/>
          <a:ln w="25400">
            <a:solidFill>
              <a:srgbClr val="8B0000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6217920" y="107899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Répartition des rôles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1463040"/>
            <a:ext cx="73152" cy="54864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630936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Evrard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09360" y="171907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de projet, README, coordination, Introduction &amp; Conclusion du rapport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72200" y="2176272"/>
            <a:ext cx="73152" cy="548640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6309360" y="21945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Romain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309360" y="243230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Lead : params.py, model.py, euler_explicite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172200" y="2889504"/>
            <a:ext cx="73152" cy="54864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6309360" y="2907792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Thibaud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309360" y="3145536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Analyste num. : euler_implicite, RK4, Crank-Nicolson, Newton-Raphson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72200" y="3602736"/>
            <a:ext cx="73152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9" name="Text 37"/>
          <p:cNvSpPr/>
          <p:nvPr/>
        </p:nvSpPr>
        <p:spPr>
          <a:xfrm>
            <a:off x="6309360" y="3621024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Zouhair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309360" y="385876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Écologue : simulations, scénario Yellowstone, graphiques &amp; slides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1371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Simulation de </a:t>
            </a:r>
            <a:r>
              <a:rPr lang="en-US" sz="2200" b="1" dirty="0" err="1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référence</a:t>
            </a:r>
            <a:r>
              <a:rPr lang="en-US" sz="22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- 50 ans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BB6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RK4,  h = 0.005 an (≈ 1.8 jour)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05840"/>
            <a:ext cx="5120640" cy="3977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32120" y="1024128"/>
            <a:ext cx="73152" cy="65836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5669280" y="104241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Végétation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0" y="1307592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Décroît puis se stabilise (~434 kg/km²). Pâturage maintenu par ongulés.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532120" y="1819656"/>
            <a:ext cx="73152" cy="658368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669280" y="183794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Wapitis N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669280" y="210312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 à 4.7 animaux/km², lente diminution sur 50 ans sous pression loups.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532120" y="2615184"/>
            <a:ext cx="73152" cy="65836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669280" y="26334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Cerfs 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89864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Croissance rapide jusqu'à 3.3, recul sous pression des prédateurs.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532120" y="3410712"/>
            <a:ext cx="73152" cy="658368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5669280" y="342900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Loups W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0" y="3694176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Oscillations saisonnières (sin²πt), déclin lent à ~0.028.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532120" y="4206240"/>
            <a:ext cx="73152" cy="6583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5669280" y="422452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B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489704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Croissance monotone (omnivorie), atteint ~1.0 animal/km² à t=50.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137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Comparaison des </a:t>
            </a:r>
            <a:r>
              <a:rPr lang="en-US" sz="2200" b="1" dirty="0" err="1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Solveurs</a:t>
            </a:r>
            <a:r>
              <a:rPr lang="en-US" sz="22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- 50 ans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621792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BB6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RK4 (h=0.005) · Euler explicite (h=0.005) · Euler implicite (h=0.05) · Crank-Nicolson (h=0.05)</a:t>
            </a:r>
            <a:endParaRPr lang="en-US" sz="9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960120"/>
            <a:ext cx="5074920" cy="3977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32120" y="1005840"/>
            <a:ext cx="338328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5532120" y="1005840"/>
            <a:ext cx="3383280" cy="64008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5623560" y="1051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Observations clés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596128" y="1463040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06440" y="1463040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RK4 et Euler explicite (h = 0.005) : trajectoires identiques — validation croisée.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596128" y="2130552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806440" y="2130552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implicite (h = 0.05) : stabilité parfaite avec un pas 10× plus grand.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596128" y="2798064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806440" y="2798064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Crank-Nicolson (h = 0.05) : se superpose à RK4 — ordre 2, pas large.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596128" y="3465576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806440" y="3465576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courbes sont indiscernables à l'échelle du graphe : cohérence des implémentations.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596128" y="4133088"/>
            <a:ext cx="18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806440" y="4133088"/>
            <a:ext cx="2971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explicite seul avec h = 0.05 produirait des instabilités numériques sur ce système raide.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Ordre de Convergence - Analyse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14400"/>
            <a:ext cx="548640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0" y="96012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Ordre empirique vs théorique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943600" y="1371600"/>
            <a:ext cx="1005840" cy="301752"/>
          </a:xfrm>
          <a:prstGeom prst="rect">
            <a:avLst/>
          </a:prstGeom>
          <a:solidFill>
            <a:srgbClr val="1A2E1E"/>
          </a:solidFill>
          <a:ln w="12700">
            <a:solidFill>
              <a:srgbClr val="1A2E1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5943600" y="1399032"/>
            <a:ext cx="10058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949440" y="1371600"/>
            <a:ext cx="1005840" cy="301752"/>
          </a:xfrm>
          <a:prstGeom prst="rect">
            <a:avLst/>
          </a:prstGeom>
          <a:solidFill>
            <a:srgbClr val="1A2E1E"/>
          </a:solidFill>
          <a:ln w="12700">
            <a:solidFill>
              <a:srgbClr val="1A2E1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6949440" y="1399032"/>
            <a:ext cx="10058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Empirique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955280" y="1371600"/>
            <a:ext cx="1005840" cy="301752"/>
          </a:xfrm>
          <a:prstGeom prst="rect">
            <a:avLst/>
          </a:prstGeom>
          <a:solidFill>
            <a:srgbClr val="1A2E1E"/>
          </a:solidFill>
          <a:ln w="12700">
            <a:solidFill>
              <a:srgbClr val="1A2E1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7955280" y="1399032"/>
            <a:ext cx="10058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Théorie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943600" y="1673352"/>
            <a:ext cx="10058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943600" y="17373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expl.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949440" y="1673352"/>
            <a:ext cx="1005840" cy="402336"/>
          </a:xfrm>
          <a:prstGeom prst="rect">
            <a:avLst/>
          </a:prstGeom>
          <a:solidFill>
            <a:srgbClr val="F0F7F0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6949440" y="17373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A90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0.9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955280" y="1673352"/>
            <a:ext cx="1005840" cy="402336"/>
          </a:xfrm>
          <a:prstGeom prst="rect">
            <a:avLst/>
          </a:prstGeom>
          <a:solidFill>
            <a:srgbClr val="F0F7F0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7955280" y="173736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943600" y="2103120"/>
            <a:ext cx="10058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5943600" y="216712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impl.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949440" y="2103120"/>
            <a:ext cx="10058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6949440" y="216712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A0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1.1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955280" y="2103120"/>
            <a:ext cx="10058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7955280" y="216712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943600" y="2532888"/>
            <a:ext cx="10058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5943600" y="259689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Crank-Nic.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949440" y="2532888"/>
            <a:ext cx="1005840" cy="402336"/>
          </a:xfrm>
          <a:prstGeom prst="rect">
            <a:avLst/>
          </a:prstGeom>
          <a:solidFill>
            <a:srgbClr val="F0F7F0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6949440" y="259689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3.6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955280" y="2532888"/>
            <a:ext cx="1005840" cy="402336"/>
          </a:xfrm>
          <a:prstGeom prst="rect">
            <a:avLst/>
          </a:prstGeom>
          <a:solidFill>
            <a:srgbClr val="F0F7F0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7955280" y="259689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943600" y="2962656"/>
            <a:ext cx="10058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5943600" y="302666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RK4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949440" y="2962656"/>
            <a:ext cx="10058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0"/>
          <p:cNvSpPr/>
          <p:nvPr/>
        </p:nvSpPr>
        <p:spPr>
          <a:xfrm>
            <a:off x="6949440" y="302666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7.4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7955280" y="2962656"/>
            <a:ext cx="10058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2"/>
          <p:cNvSpPr/>
          <p:nvPr/>
        </p:nvSpPr>
        <p:spPr>
          <a:xfrm>
            <a:off x="7955280" y="302666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943600" y="3657600"/>
            <a:ext cx="30175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: RK4 atteint la précision machine (≈ 10⁻¹⁵) pour les petits pas — ordre apparent p≈7.4 supérieur au théorique car l'erreur d'arrondi domine avant d'être masquée.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13716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Scénario Yellowstone - Réintroduction des Loups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667512"/>
            <a:ext cx="54864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BB6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W(0) = 0 — réintroduction à t = 20 ans  ·  RK4, h = 0.01 an</a:t>
            </a:r>
            <a:endParaRPr lang="en-US" sz="10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05840"/>
            <a:ext cx="5074920" cy="3977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32120" y="1005840"/>
            <a:ext cx="338328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CC"/>
            </a:solidFill>
            <a:prstDash val="solid"/>
          </a:ln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5532120" y="1005840"/>
            <a:ext cx="3383280" cy="64008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5623560" y="1051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Interprétation écologique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596128" y="1435608"/>
            <a:ext cx="64008" cy="7315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715000" y="1453896"/>
            <a:ext cx="3108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0–20 ans (sans loups)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715000" y="17099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Ongulés en croissance libre, surpâturage, végétation dégradée (~424 kg/km²). Ours en expansion.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596128" y="2322576"/>
            <a:ext cx="64008" cy="7315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715000" y="2340864"/>
            <a:ext cx="3108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20 ans (réintroduction)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715000" y="259689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Saut discontinu de W : 0 → 0.04 animaux/km². Perturbation brutale du système.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596128" y="3209544"/>
            <a:ext cx="64008" cy="73152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5715000" y="3227832"/>
            <a:ext cx="3108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20–50 ans (avec loups)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715000" y="348386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Végétation se régénère (+10 kg/km²). Wapitis et cerfs diminuent. Loups s'établissent.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596128" y="4096512"/>
            <a:ext cx="64008" cy="731520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5715000" y="4114800"/>
            <a:ext cx="31089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BB6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trophique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5715000" y="437083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réintroduction déclenche une cascade : prédation → réduction ongulés → regain de végétation. Écologie du paysage (trophic cascade).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4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Portraits de Phase - Dynamiques Proie-Prédateur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74320" y="667512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Trajectoires dans l'espace des phases  (N, W)  et  (D, W)  ·  comparaison Référence vs Yellowstone</a:t>
            </a:r>
            <a:endParaRPr lang="en-US" sz="9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24128"/>
            <a:ext cx="8686800" cy="3200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4325112"/>
            <a:ext cx="2788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228600" y="4325112"/>
            <a:ext cx="2788920" cy="640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301752" y="438912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01752" y="459028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Spirale amortie vers attractor. Oscillations loups-wapitis de type Lotka-Volterra modifié. Période ≈ 10 ans.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200400" y="4325112"/>
            <a:ext cx="2788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3200400" y="4325112"/>
            <a:ext cx="2788920" cy="64008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3273552" y="438912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Yellowstone (N–W)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273552" y="459028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loups 20 ans : W ≈ 0. Après réintro. : trajectoire montante, loups s'établissent progressivement.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72200" y="4325112"/>
            <a:ext cx="2788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2"/>
          <p:cNvSpPr/>
          <p:nvPr/>
        </p:nvSpPr>
        <p:spPr>
          <a:xfrm>
            <a:off x="6172200" y="4325112"/>
            <a:ext cx="2788920" cy="6400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245352" y="4389120"/>
            <a:ext cx="2651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Yellowstone (D–W)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245352" y="4590288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Cerfs peu affectés sans loups. Post-réintro : légère pression, trajectoire converge rapidement.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Newton-Raphson </a:t>
            </a:r>
            <a:r>
              <a:rPr lang="en-US" sz="2000" b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Vectoriel</a:t>
            </a: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Coeur des Méthodes Implicites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365760" y="758952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7BB6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Résolution de  G(u_{n+1}) = 0  à chaque pas de temps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4114800" cy="3657600"/>
          </a:xfrm>
          <a:prstGeom prst="rect">
            <a:avLst/>
          </a:prstGeom>
          <a:solidFill>
            <a:srgbClr val="1A2E1E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65760" y="12618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BB6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84048" y="1627632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G(u) = u − uₙ − h·F(t_{n+1}, u)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84048" y="2139696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Prédicteur (Euler expl.) :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84048" y="2395728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BB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u⁰ = uₙ + h·F(tₙ, uₙ)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84048" y="2907792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Jacobien J (différences centrées) :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84048" y="3163824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BB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J[:,j] ≈ [G(u+ε·eⱼ) − G(u−ε·eⱼ)] / 2ε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84048" y="3419856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BB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ε = √(ε_machine) ≈ 1.49·10⁻⁸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3931920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Itération : J·δ = −G(u)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84048" y="4187952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BB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u ← u + δ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84048" y="4443984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BB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jusqu'à ‖G(u)‖ &lt; 10⁻¹⁰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1844" y="4882896"/>
            <a:ext cx="3886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AABB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Convergence : 3–6 itérations en pratique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63440" y="1188720"/>
            <a:ext cx="4206240" cy="3657600"/>
          </a:xfrm>
          <a:prstGeom prst="rect">
            <a:avLst/>
          </a:prstGeom>
          <a:solidFill>
            <a:srgbClr val="1A2E1E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754880" y="126187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7BB6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Analyse du coût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754880" y="1691640"/>
            <a:ext cx="3977640" cy="438912"/>
          </a:xfrm>
          <a:prstGeom prst="rect">
            <a:avLst/>
          </a:prstGeom>
          <a:solidFill>
            <a:srgbClr val="0F1F12"/>
          </a:solidFill>
          <a:ln w="12700">
            <a:solidFill>
              <a:srgbClr val="3344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846320" y="1728216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B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itération Newton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846320" y="191109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BB6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2n éval. F (diffs centrées)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2221992"/>
            <a:ext cx="3977640" cy="438912"/>
          </a:xfrm>
          <a:prstGeom prst="rect">
            <a:avLst/>
          </a:prstGeom>
          <a:solidFill>
            <a:srgbClr val="0F1F12"/>
          </a:solidFill>
          <a:ln w="12700">
            <a:solidFill>
              <a:srgbClr val="3344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4846320" y="22585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B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 espèces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0" y="2441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BB6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10 éval. F / itération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2752344"/>
            <a:ext cx="3977640" cy="438912"/>
          </a:xfrm>
          <a:prstGeom prst="rect">
            <a:avLst/>
          </a:prstGeom>
          <a:solidFill>
            <a:srgbClr val="0F1F12"/>
          </a:solidFill>
          <a:ln w="12700">
            <a:solidFill>
              <a:srgbClr val="3344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846320" y="278892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B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Itérations/pas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846320" y="297180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BB6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3–6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54880" y="3282696"/>
            <a:ext cx="3977640" cy="438912"/>
          </a:xfrm>
          <a:prstGeom prst="rect">
            <a:avLst/>
          </a:prstGeom>
          <a:solidFill>
            <a:srgbClr val="0F1F12"/>
          </a:solidFill>
          <a:ln w="12700">
            <a:solidFill>
              <a:srgbClr val="3344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846320" y="3319272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B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Éval. F / pas impl.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46320" y="350215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BB6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≈ 30–60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54880" y="3813048"/>
            <a:ext cx="3977640" cy="438912"/>
          </a:xfrm>
          <a:prstGeom prst="rect">
            <a:avLst/>
          </a:prstGeom>
          <a:solidFill>
            <a:srgbClr val="0F1F12"/>
          </a:solidFill>
          <a:ln w="12700">
            <a:solidFill>
              <a:srgbClr val="3344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4846320" y="3849624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B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Éval. F / pas RK4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403250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BB6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(mais expl., ≪ stable)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54880" y="4272550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 de la raideur :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754880" y="4455523"/>
            <a:ext cx="3977640" cy="3907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AB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Oscillations saisonnières (T=1 an) + dynamique lente ours. Euler implicite et Crank-Nicolson permettent h = 0.05 là où Euler expl. nécessite h ≤ 0.01.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2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4320" y="1508760"/>
            <a:ext cx="4160520" cy="1600200"/>
          </a:xfrm>
          <a:prstGeom prst="rect">
            <a:avLst/>
          </a:prstGeom>
          <a:solidFill>
            <a:srgbClr val="1A2E1E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65760" y="15819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BB6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160020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Modèle biologique réaliste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029968"/>
            <a:ext cx="3931920" cy="22860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AB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EDO couplées intégrant réponses ratio-dépendante, thêta-logistique, forçage saisonnier et omnivorie — dynamiques écologiquement pertinentes.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1508760"/>
            <a:ext cx="4160520" cy="1600200"/>
          </a:xfrm>
          <a:prstGeom prst="rect">
            <a:avLst/>
          </a:prstGeom>
          <a:solidFill>
            <a:srgbClr val="1A2E1E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846320" y="15819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BB6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40680" y="160020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Solveurs validés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46320" y="2029968"/>
            <a:ext cx="3931920" cy="22860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846320" y="210312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AB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méthodes implémentées from scratch en Python pur. Newton-Raphson vectoriel (différences centrées) pour les méthodes implicites.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3246120"/>
            <a:ext cx="4160520" cy="1600200"/>
          </a:xfrm>
          <a:prstGeom prst="rect">
            <a:avLst/>
          </a:prstGeom>
          <a:solidFill>
            <a:srgbClr val="1A2E1E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365760" y="331927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BB6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60120" y="333756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Ordres confirmés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767328"/>
            <a:ext cx="3931920" cy="22860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365760" y="384048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AB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Euler O(h), Crank-Nicolson O(h2), RK4 O(h4) — verifie numeriquement. Methodes implicites A-stables, indispensables sur ce systeme raide.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54880" y="3246120"/>
            <a:ext cx="4160520" cy="1600200"/>
          </a:xfrm>
          <a:prstGeom prst="rect">
            <a:avLst/>
          </a:prstGeom>
          <a:solidFill>
            <a:srgbClr val="1A2E1E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846320" y="331927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BB6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40680" y="3337560"/>
            <a:ext cx="3337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Scénario Yellowstone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46320" y="3767328"/>
            <a:ext cx="3931920" cy="22860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846320" y="384048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AABB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Reintroduction a t=20 ans declenche une cascade trophique : predation -&gt; ongules -&gt; vegetation ++. Dynamique non lineaire, sensible aux CI.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7BB661"/>
          </a:solidFill>
          <a:ln w="12700">
            <a:solidFill>
              <a:srgbClr val="7BB661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5" name="Text 23"/>
          <p:cNvSpPr/>
          <p:nvPr/>
        </p:nvSpPr>
        <p:spPr>
          <a:xfrm>
            <a:off x="274320" y="4892040"/>
            <a:ext cx="8686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Evrard · Romain · Thibaud · Zouhair  — </a:t>
            </a:r>
            <a:r>
              <a:rPr lang="en-US" sz="900" b="1" dirty="0" err="1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900" b="1" dirty="0">
                <a:solidFill>
                  <a:srgbClr val="1A2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1749</Words>
  <Application>Microsoft Office PowerPoint</Application>
  <PresentationFormat>On-screen Show (16:9)</PresentationFormat>
  <Paragraphs>236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Cascade Trophique — Analyse Numérique</dc:title>
  <dc:subject>PptxGenJS Presentation</dc:subject>
  <dc:creator>Evrard, Romain, Thibaud, Zhouair</dc:creator>
  <cp:lastModifiedBy>Zouhair Saitout</cp:lastModifiedBy>
  <cp:revision>2</cp:revision>
  <dcterms:created xsi:type="dcterms:W3CDTF">2026-05-01T11:01:41Z</dcterms:created>
  <dcterms:modified xsi:type="dcterms:W3CDTF">2026-05-01T12:22:50Z</dcterms:modified>
</cp:coreProperties>
</file>